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59" r:id="rId6"/>
    <p:sldId id="260" r:id="rId7"/>
    <p:sldId id="264" r:id="rId8"/>
    <p:sldId id="265" r:id="rId9"/>
    <p:sldId id="266" r:id="rId10"/>
    <p:sldId id="267" r:id="rId11"/>
    <p:sldId id="268" r:id="rId12"/>
    <p:sldId id="27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32"/>
    <p:restoredTop sz="94643"/>
  </p:normalViewPr>
  <p:slideViewPr>
    <p:cSldViewPr snapToGrid="0" snapToObjects="1">
      <p:cViewPr>
        <p:scale>
          <a:sx n="112" d="100"/>
          <a:sy n="112" d="100"/>
        </p:scale>
        <p:origin x="44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580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研究題目定位：不是「讀一本書」，而是在繁中語境下，把訓練工程機制驗證一次，並對照自迴歸與擴散兩種生成範式。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重點是「可量測」：不是說我讀懂了，而是拿出實測數字證明書中的公式與取捨是對的。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關鍵論點：GPT-OSS 本身就是 MoE，所以專家平行不是抽象概念，是我實際要調的東西；而它又小到能在單卡上跑，成本極低。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這張是簡報的核心。老闆若只看一張，就看這張——它證明實驗不是隨便跑，而是有系統地把整本書的概念一一驗證。最後一行誠實標示範圍限制。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流程刻意設計成每一階段都能產出一個可以放進簡報的數字或圖表。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因為資料集已經是對話格式且授權乾淨，前處理成本很低，時間可以集中在訓練工程本身。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刻意把對齊點放在第一週末：那時已投入的成本還低，若方向要改，改得動。降級方案是給老闆的保險：第二組就算卡住，主體交付照樣完成。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誠實界定範圍是這頁的重點：不誇口三週精通分散式訓練，而是說清楚哪些能驗證、哪些只做理論理解。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這頁定義了什麼叫做完。四個檢查點是可交付的實體，表格是可檢驗的證據，三個問題是我要能當場回答的東西。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三題都標了文獻錨點與缺口。B 是唯一真正的空白，價值最高；A 需要繁中驗證；C 是補評測空白、非方法創新。底下明講已排除哪些題目與原因，證明有做過查證。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重點：進階研究的瓶頸不是模型，是資料。既有公開資料能撐住訓練，但三個研究方向各自缺一份評測集，而那正是可以對外開源、建立社群聲量的部分。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5F3BB-5510-0555-EA50-CAD0D71A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14E6B-9694-B953-AB0B-D19C7D9F3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72187-49BF-1408-5D9E-D8CBD3829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參考資料頁。若老闆追問任何一項主張的依據，直接翻到這頁。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ACFDE-42C1-F52C-5B5C-13C5D893D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59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002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繁體中文語言模型的訓練工程實證</a:t>
            </a:r>
            <a:endParaRPr lang="en-US" sz="33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與生成範式比較研究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77240" y="3200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小規模實驗提案：以</a:t>
            </a:r>
            <a:r>
              <a:rPr lang="en-US" sz="2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Ultra-Scale Playbook </a:t>
            </a:r>
            <a:r>
              <a:rPr lang="en-US" sz="2000" dirty="0" err="1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為基礎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08770" y="5944545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437A89C-B5D3-2905-493B-81BF44E52276}"/>
              </a:ext>
            </a:extLst>
          </p:cNvPr>
          <p:cNvSpPr/>
          <p:nvPr/>
        </p:nvSpPr>
        <p:spPr>
          <a:xfrm>
            <a:off x="777240" y="375692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曹楷萱 Kai  | 2026/07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AC2C529-7F73-DCF4-78F3-EB825F039216}"/>
              </a:ext>
            </a:extLst>
          </p:cNvPr>
          <p:cNvSpPr/>
          <p:nvPr/>
        </p:nvSpPr>
        <p:spPr>
          <a:xfrm>
            <a:off x="808770" y="6050805"/>
            <a:ext cx="10515600" cy="334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en-US" altLang="zh-TW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“Ultra-Scale Playbook ”</a:t>
            </a:r>
            <a:r>
              <a:rPr lang="zh-TW" alt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 </a:t>
            </a: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ai-twinkle/ultrascale-playbook-zh-tw（HF Ultra-Scale Playbook 繁中版）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1DD1BD91-1FDD-08BC-5DB2-6BA1DCC80D0B}"/>
              </a:ext>
            </a:extLst>
          </p:cNvPr>
          <p:cNvSpPr/>
          <p:nvPr/>
        </p:nvSpPr>
        <p:spPr>
          <a:xfrm>
            <a:off x="548640" y="7086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提案摘要</a:t>
            </a:r>
            <a:endParaRPr lang="en-US" sz="3000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2306F17D-E2BF-9D95-84BB-A0A74FC5FFC0}"/>
              </a:ext>
            </a:extLst>
          </p:cNvPr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50A8AE41-CC5F-D2DB-7940-CBF268900D70}"/>
              </a:ext>
            </a:extLst>
          </p:cNvPr>
          <p:cNvSpPr/>
          <p:nvPr/>
        </p:nvSpPr>
        <p:spPr>
          <a:xfrm>
            <a:off x="868680" y="1600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　標</a:t>
            </a:r>
            <a:endParaRPr lang="en-US" sz="17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75047FCF-4817-DC38-FD11-A2371D613869}"/>
              </a:ext>
            </a:extLst>
          </p:cNvPr>
          <p:cNvSpPr/>
          <p:nvPr/>
        </p:nvSpPr>
        <p:spPr>
          <a:xfrm>
            <a:off x="2377440" y="1600200"/>
            <a:ext cx="9006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掌握大模型訓練背後的工程機制（記憶體、精度、平行化），</a:t>
            </a:r>
            <a:r>
              <a:rPr lang="en-US" sz="14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並以可量測的實驗驗證</a:t>
            </a:r>
            <a:r>
              <a:rPr lang="en-US" sz="14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5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D597E9FD-30F1-66D6-5B04-D999D8F3BE06}"/>
              </a:ext>
            </a:extLst>
          </p:cNvPr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1282363D-4EC2-7BD0-F525-E597C856452C}"/>
              </a:ext>
            </a:extLst>
          </p:cNvPr>
          <p:cNvSpPr/>
          <p:nvPr/>
        </p:nvSpPr>
        <p:spPr>
          <a:xfrm>
            <a:off x="868680" y="2788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　法</a:t>
            </a:r>
            <a:endParaRPr lang="en-US" sz="17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C3CA1892-C57E-FC59-BED5-5A25A83E47DC}"/>
              </a:ext>
            </a:extLst>
          </p:cNvPr>
          <p:cNvSpPr/>
          <p:nvPr/>
        </p:nvSpPr>
        <p:spPr>
          <a:xfrm>
            <a:off x="2377440" y="2788920"/>
            <a:ext cx="9006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挑一個小任務實際微調</a:t>
            </a:r>
            <a:r>
              <a:rPr lang="en-US" sz="14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GPT-OSS 20B，過程中把 Playbook </a:t>
            </a:r>
            <a:r>
              <a:rPr lang="en-US" sz="14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概念逐項對照驗證</a:t>
            </a:r>
            <a:r>
              <a:rPr lang="en-US" sz="14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50" dirty="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FF0DBA07-9CF1-A77B-1894-19D857FD3520}"/>
              </a:ext>
            </a:extLst>
          </p:cNvPr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3CF878FB-BF04-5DC6-EB4F-914CBEEE03B5}"/>
              </a:ext>
            </a:extLst>
          </p:cNvPr>
          <p:cNvSpPr/>
          <p:nvPr/>
        </p:nvSpPr>
        <p:spPr>
          <a:xfrm>
            <a:off x="868680" y="3977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　程</a:t>
            </a:r>
            <a:endParaRPr lang="en-US" sz="17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2DFF23DF-AAE5-0DC1-2189-B958E7A9AD26}"/>
              </a:ext>
            </a:extLst>
          </p:cNvPr>
          <p:cNvSpPr/>
          <p:nvPr/>
        </p:nvSpPr>
        <p:spPr>
          <a:xfrm>
            <a:off x="2377440" y="3977640"/>
            <a:ext cx="9006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r>
              <a:rPr lang="zh-TW" altLang="en-US" sz="14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至四</a:t>
            </a:r>
            <a:r>
              <a:rPr lang="en-US" sz="14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週。第</a:t>
            </a:r>
            <a:r>
              <a:rPr lang="en-US" sz="14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1 週末設對齊點，先確認方向再往下做。</a:t>
            </a:r>
            <a:endParaRPr lang="en-US" sz="1450" dirty="0"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5203C392-E71B-C827-7C1F-61477EB176AF}"/>
              </a:ext>
            </a:extLst>
          </p:cNvPr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3BCD6F73-5798-FFF5-683D-56FBF4547F7A}"/>
              </a:ext>
            </a:extLst>
          </p:cNvPr>
          <p:cNvSpPr/>
          <p:nvPr/>
        </p:nvSpPr>
        <p:spPr>
          <a:xfrm>
            <a:off x="868680" y="5166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　出</a:t>
            </a:r>
            <a:endParaRPr lang="en-US" sz="17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D9140563-5296-9071-DC2E-3940CB376376}"/>
              </a:ext>
            </a:extLst>
          </p:cNvPr>
          <p:cNvSpPr/>
          <p:nvPr/>
        </p:nvSpPr>
        <p:spPr>
          <a:xfrm>
            <a:off x="2377440" y="5166360"/>
            <a:ext cx="9006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</a:t>
            </a:r>
            <a:r>
              <a:rPr lang="en-US" sz="14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/ </a:t>
            </a:r>
            <a:r>
              <a:rPr lang="en-US" sz="14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可複現的實驗程式碼</a:t>
            </a:r>
            <a:r>
              <a:rPr lang="en-US" sz="14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/ </a:t>
            </a:r>
            <a:r>
              <a:rPr lang="en-US" sz="14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微調前後的評估數字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>
            <a:extLst>
              <a:ext uri="{FF2B5EF4-FFF2-40B4-BE49-F238E27FC236}">
                <a16:creationId xmlns:a16="http://schemas.microsoft.com/office/drawing/2014/main" id="{2171B71A-F5A0-8E38-5C36-B889C9008438}"/>
              </a:ext>
            </a:extLst>
          </p:cNvPr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模型與資料集</a:t>
            </a:r>
            <a:endParaRPr lang="en-US" sz="30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09DE128F-017A-532B-1FDF-71E14D530861}"/>
              </a:ext>
            </a:extLst>
          </p:cNvPr>
          <p:cNvSpPr/>
          <p:nvPr/>
        </p:nvSpPr>
        <p:spPr>
          <a:xfrm>
            <a:off x="548640" y="155448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12700" dir="54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21C8777A-E63D-6958-2D50-9FE3270C7FD1}"/>
              </a:ext>
            </a:extLst>
          </p:cNvPr>
          <p:cNvSpPr/>
          <p:nvPr/>
        </p:nvSpPr>
        <p:spPr>
          <a:xfrm>
            <a:off x="868680" y="1810512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14D9DDBD-ED3C-C641-F09E-72D56AF48D21}"/>
              </a:ext>
            </a:extLst>
          </p:cNvPr>
          <p:cNvSpPr/>
          <p:nvPr/>
        </p:nvSpPr>
        <p:spPr>
          <a:xfrm>
            <a:off x="868680" y="18105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實驗載體</a:t>
            </a:r>
            <a:endParaRPr lang="en-US" sz="105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39D5641A-ACA4-DDB6-5696-837B6B0A5901}"/>
              </a:ext>
            </a:extLst>
          </p:cNvPr>
          <p:cNvSpPr/>
          <p:nvPr/>
        </p:nvSpPr>
        <p:spPr>
          <a:xfrm>
            <a:off x="868680" y="22128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GPT-OSS 20B</a:t>
            </a:r>
            <a:endParaRPr lang="en-US" sz="20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271EC2E1-31B1-8CC1-D66B-559F5E2C4611}"/>
              </a:ext>
            </a:extLst>
          </p:cNvPr>
          <p:cNvSpPr/>
          <p:nvPr/>
        </p:nvSpPr>
        <p:spPr>
          <a:xfrm>
            <a:off x="868680" y="2964357"/>
            <a:ext cx="4709160" cy="2339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MoE 架構：20.9B </a:t>
            </a:r>
            <a:r>
              <a:rPr lang="en-US" sz="13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總參數</a:t>
            </a: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(active 3.6B)</a:t>
            </a:r>
            <a:endParaRPr lang="en-US" sz="1350" dirty="0"/>
          </a:p>
          <a:p>
            <a:pPr>
              <a:lnSpc>
                <a:spcPts val="2100"/>
              </a:lnSpc>
              <a:spcAft>
                <a:spcPts val="800"/>
              </a:spcAft>
              <a:buSzPct val="100000"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en-US" sz="13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專家平行（EP）章節可以直接實測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LoRA / QLoRA 可在單張消費級 GPU 上微調</a:t>
            </a:r>
            <a:endParaRPr lang="en-US" sz="1350" dirty="0"/>
          </a:p>
          <a:p>
            <a:pPr>
              <a:lnSpc>
                <a:spcPts val="2100"/>
              </a:lnSpc>
              <a:spcAft>
                <a:spcPts val="800"/>
              </a:spcAft>
              <a:buSzPct val="100000"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en-US" sz="13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低成本跑完整流程，風險可控</a:t>
            </a:r>
            <a:endParaRPr lang="en-US" sz="135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AB59D983-B72D-F88D-90F5-50CA61D1A6B3}"/>
              </a:ext>
            </a:extLst>
          </p:cNvPr>
          <p:cNvSpPr/>
          <p:nvPr/>
        </p:nvSpPr>
        <p:spPr>
          <a:xfrm>
            <a:off x="6263640" y="155448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12700" dir="54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C5CE4309-2AAF-E9B5-2098-4813FD6D214F}"/>
              </a:ext>
            </a:extLst>
          </p:cNvPr>
          <p:cNvSpPr/>
          <p:nvPr/>
        </p:nvSpPr>
        <p:spPr>
          <a:xfrm>
            <a:off x="6583680" y="1810512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E6D6E701-065E-3392-ED05-DD26FC04BC3D}"/>
              </a:ext>
            </a:extLst>
          </p:cNvPr>
          <p:cNvSpPr/>
          <p:nvPr/>
        </p:nvSpPr>
        <p:spPr>
          <a:xfrm>
            <a:off x="6583680" y="18105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實驗資料</a:t>
            </a:r>
            <a:endParaRPr lang="en-US" sz="105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639976-E669-49B0-6115-40258B3A67F5}"/>
              </a:ext>
            </a:extLst>
          </p:cNvPr>
          <p:cNvSpPr/>
          <p:nvPr/>
        </p:nvSpPr>
        <p:spPr>
          <a:xfrm>
            <a:off x="6583680" y="22128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tw-reasoning-instruct-50k</a:t>
            </a:r>
            <a:endParaRPr lang="en-US" sz="20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8466DF54-D9B1-F358-A1A1-75C04548717E}"/>
              </a:ext>
            </a:extLst>
          </p:cNvPr>
          <p:cNvSpPr/>
          <p:nvPr/>
        </p:nvSpPr>
        <p:spPr>
          <a:xfrm>
            <a:off x="6583680" y="2788920"/>
            <a:ext cx="4709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Twinkle AI 自製，5 萬筆繁體中文推理指令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MIT </a:t>
            </a:r>
            <a:r>
              <a:rPr lang="en-US" sz="13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授權，可自由使用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已是 ShareGPT 對話格式，另附 think / output 欄位</a:t>
            </a:r>
            <a:endParaRPr lang="en-US" sz="1350" dirty="0"/>
          </a:p>
          <a:p>
            <a:pPr>
              <a:lnSpc>
                <a:spcPts val="2100"/>
              </a:lnSpc>
              <a:spcAft>
                <a:spcPts val="800"/>
              </a:spcAft>
              <a:buSzPct val="100000"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en-US" sz="13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前處理成本低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>
            <a:extLst>
              <a:ext uri="{FF2B5EF4-FFF2-40B4-BE49-F238E27FC236}">
                <a16:creationId xmlns:a16="http://schemas.microsoft.com/office/drawing/2014/main" id="{D4924EAC-2254-6FE7-1DE7-8863AA8DE305}"/>
              </a:ext>
            </a:extLst>
          </p:cNvPr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實驗步驟</a:t>
            </a: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｜ Playbook 章節對應</a:t>
            </a:r>
            <a:endParaRPr lang="en-US" sz="3000" dirty="0"/>
          </a:p>
        </p:txBody>
      </p:sp>
      <p:sp>
        <p:nvSpPr>
          <p:cNvPr id="54" name="Shape 2">
            <a:extLst>
              <a:ext uri="{FF2B5EF4-FFF2-40B4-BE49-F238E27FC236}">
                <a16:creationId xmlns:a16="http://schemas.microsoft.com/office/drawing/2014/main" id="{7D747A99-58EB-A974-E694-6206333B99C2}"/>
              </a:ext>
            </a:extLst>
          </p:cNvPr>
          <p:cNvSpPr/>
          <p:nvPr/>
        </p:nvSpPr>
        <p:spPr>
          <a:xfrm>
            <a:off x="548640" y="1392014"/>
            <a:ext cx="310896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Text 3">
            <a:extLst>
              <a:ext uri="{FF2B5EF4-FFF2-40B4-BE49-F238E27FC236}">
                <a16:creationId xmlns:a16="http://schemas.microsoft.com/office/drawing/2014/main" id="{7FFB780C-94FF-993B-D427-96659E6F1A74}"/>
              </a:ext>
            </a:extLst>
          </p:cNvPr>
          <p:cNvSpPr/>
          <p:nvPr/>
        </p:nvSpPr>
        <p:spPr>
          <a:xfrm>
            <a:off x="676656" y="139201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Playbook 章節</a:t>
            </a:r>
            <a:endParaRPr lang="en-US" sz="1250" dirty="0"/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8ABF5359-2071-F130-8725-7A20EABFFE3D}"/>
              </a:ext>
            </a:extLst>
          </p:cNvPr>
          <p:cNvSpPr/>
          <p:nvPr/>
        </p:nvSpPr>
        <p:spPr>
          <a:xfrm>
            <a:off x="3657600" y="1392014"/>
            <a:ext cx="448056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EADD0BFA-8CED-FC5A-74C6-A1A75E253F0C}"/>
              </a:ext>
            </a:extLst>
          </p:cNvPr>
          <p:cNvSpPr/>
          <p:nvPr/>
        </p:nvSpPr>
        <p:spPr>
          <a:xfrm>
            <a:off x="3785616" y="1392014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實驗中對應的動作</a:t>
            </a:r>
            <a:endParaRPr lang="en-US" sz="1250" dirty="0"/>
          </a:p>
        </p:txBody>
      </p:sp>
      <p:sp>
        <p:nvSpPr>
          <p:cNvPr id="58" name="Shape 6">
            <a:extLst>
              <a:ext uri="{FF2B5EF4-FFF2-40B4-BE49-F238E27FC236}">
                <a16:creationId xmlns:a16="http://schemas.microsoft.com/office/drawing/2014/main" id="{D9802FF4-B82D-5A2B-237D-043D1FAF892F}"/>
              </a:ext>
            </a:extLst>
          </p:cNvPr>
          <p:cNvSpPr/>
          <p:nvPr/>
        </p:nvSpPr>
        <p:spPr>
          <a:xfrm>
            <a:off x="8138160" y="1392014"/>
            <a:ext cx="347472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3893EE01-E340-5721-0B90-CD187FA1BDFA}"/>
              </a:ext>
            </a:extLst>
          </p:cNvPr>
          <p:cNvSpPr/>
          <p:nvPr/>
        </p:nvSpPr>
        <p:spPr>
          <a:xfrm>
            <a:off x="8266176" y="1392014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驗證什麼</a:t>
            </a:r>
            <a:endParaRPr lang="en-US" sz="1250" dirty="0"/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280C18F7-44D1-EAE7-1338-3566C6B5ABAC}"/>
              </a:ext>
            </a:extLst>
          </p:cNvPr>
          <p:cNvSpPr/>
          <p:nvPr/>
        </p:nvSpPr>
        <p:spPr>
          <a:xfrm>
            <a:off x="548640" y="1849214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3EC87DE1-CE32-07EB-23E5-042C083276AD}"/>
              </a:ext>
            </a:extLst>
          </p:cNvPr>
          <p:cNvSpPr/>
          <p:nvPr/>
        </p:nvSpPr>
        <p:spPr>
          <a:xfrm>
            <a:off x="676656" y="1849214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 GPU 記憶體剖析</a:t>
            </a:r>
            <a:endParaRPr lang="en-US" sz="1220" dirty="0"/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C8AD2320-CE69-69D2-1E08-55415EA2A039}"/>
              </a:ext>
            </a:extLst>
          </p:cNvPr>
          <p:cNvSpPr/>
          <p:nvPr/>
        </p:nvSpPr>
        <p:spPr>
          <a:xfrm>
            <a:off x="3657600" y="1849214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8E3F86E0-935A-E87F-D238-A064424234FF}"/>
              </a:ext>
            </a:extLst>
          </p:cNvPr>
          <p:cNvSpPr/>
          <p:nvPr/>
        </p:nvSpPr>
        <p:spPr>
          <a:xfrm>
            <a:off x="3785616" y="1849214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訓練時拆解權重 / 梯度 / 優化器狀態 / 激活值佔比</a:t>
            </a:r>
            <a:endParaRPr lang="en-US" sz="1220" dirty="0"/>
          </a:p>
        </p:txBody>
      </p:sp>
      <p:sp>
        <p:nvSpPr>
          <p:cNvPr id="64" name="Shape 12">
            <a:extLst>
              <a:ext uri="{FF2B5EF4-FFF2-40B4-BE49-F238E27FC236}">
                <a16:creationId xmlns:a16="http://schemas.microsoft.com/office/drawing/2014/main" id="{1E09647B-4162-E75E-9C69-34FAB473E357}"/>
              </a:ext>
            </a:extLst>
          </p:cNvPr>
          <p:cNvSpPr/>
          <p:nvPr/>
        </p:nvSpPr>
        <p:spPr>
          <a:xfrm>
            <a:off x="8138160" y="1849214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09A4563F-009F-CD59-9E0C-B387C48D44FE}"/>
              </a:ext>
            </a:extLst>
          </p:cNvPr>
          <p:cNvSpPr/>
          <p:nvPr/>
        </p:nvSpPr>
        <p:spPr>
          <a:xfrm>
            <a:off x="8266176" y="1849214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實測值與書中公式的落差</a:t>
            </a:r>
            <a:endParaRPr lang="en-US" sz="1220" dirty="0"/>
          </a:p>
        </p:txBody>
      </p:sp>
      <p:sp>
        <p:nvSpPr>
          <p:cNvPr id="66" name="Shape 14">
            <a:extLst>
              <a:ext uri="{FF2B5EF4-FFF2-40B4-BE49-F238E27FC236}">
                <a16:creationId xmlns:a16="http://schemas.microsoft.com/office/drawing/2014/main" id="{0E973826-7035-D47E-E6B5-517529D169C2}"/>
              </a:ext>
            </a:extLst>
          </p:cNvPr>
          <p:cNvSpPr/>
          <p:nvPr/>
        </p:nvSpPr>
        <p:spPr>
          <a:xfrm>
            <a:off x="548640" y="2416142"/>
            <a:ext cx="310896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E91DAB8D-072B-3577-6888-0994F47B8B52}"/>
              </a:ext>
            </a:extLst>
          </p:cNvPr>
          <p:cNvSpPr/>
          <p:nvPr/>
        </p:nvSpPr>
        <p:spPr>
          <a:xfrm>
            <a:off x="676656" y="2416142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Activation Recomputation</a:t>
            </a:r>
            <a:endParaRPr lang="en-US" sz="1220" dirty="0"/>
          </a:p>
        </p:txBody>
      </p:sp>
      <p:sp>
        <p:nvSpPr>
          <p:cNvPr id="68" name="Shape 16">
            <a:extLst>
              <a:ext uri="{FF2B5EF4-FFF2-40B4-BE49-F238E27FC236}">
                <a16:creationId xmlns:a16="http://schemas.microsoft.com/office/drawing/2014/main" id="{E005AB10-FEBF-CEC4-9EEC-F592F6D778DD}"/>
              </a:ext>
            </a:extLst>
          </p:cNvPr>
          <p:cNvSpPr/>
          <p:nvPr/>
        </p:nvSpPr>
        <p:spPr>
          <a:xfrm>
            <a:off x="3657600" y="2416142"/>
            <a:ext cx="448056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 17">
            <a:extLst>
              <a:ext uri="{FF2B5EF4-FFF2-40B4-BE49-F238E27FC236}">
                <a16:creationId xmlns:a16="http://schemas.microsoft.com/office/drawing/2014/main" id="{A336EEA1-A2A6-94CA-4A4C-DAE4443B36EB}"/>
              </a:ext>
            </a:extLst>
          </p:cNvPr>
          <p:cNvSpPr/>
          <p:nvPr/>
        </p:nvSpPr>
        <p:spPr>
          <a:xfrm>
            <a:off x="3785616" y="2416142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開關 gradient checkpointing 各跑一次</a:t>
            </a:r>
            <a:endParaRPr lang="en-US" sz="1220" dirty="0"/>
          </a:p>
        </p:txBody>
      </p:sp>
      <p:sp>
        <p:nvSpPr>
          <p:cNvPr id="70" name="Shape 18">
            <a:extLst>
              <a:ext uri="{FF2B5EF4-FFF2-40B4-BE49-F238E27FC236}">
                <a16:creationId xmlns:a16="http://schemas.microsoft.com/office/drawing/2014/main" id="{66CDFD3B-6E05-C6CD-BC4E-39AD360F5639}"/>
              </a:ext>
            </a:extLst>
          </p:cNvPr>
          <p:cNvSpPr/>
          <p:nvPr/>
        </p:nvSpPr>
        <p:spPr>
          <a:xfrm>
            <a:off x="8138160" y="2416142"/>
            <a:ext cx="347472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 19">
            <a:extLst>
              <a:ext uri="{FF2B5EF4-FFF2-40B4-BE49-F238E27FC236}">
                <a16:creationId xmlns:a16="http://schemas.microsoft.com/office/drawing/2014/main" id="{8B4A0FF1-43E6-436B-7CE0-8810A5F40EC3}"/>
              </a:ext>
            </a:extLst>
          </p:cNvPr>
          <p:cNvSpPr/>
          <p:nvPr/>
        </p:nvSpPr>
        <p:spPr>
          <a:xfrm>
            <a:off x="8266176" y="2416142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記憶體與計算時間的取捨曲線</a:t>
            </a:r>
            <a:endParaRPr lang="en-US" sz="1220" dirty="0"/>
          </a:p>
        </p:txBody>
      </p:sp>
      <p:sp>
        <p:nvSpPr>
          <p:cNvPr id="72" name="Shape 20">
            <a:extLst>
              <a:ext uri="{FF2B5EF4-FFF2-40B4-BE49-F238E27FC236}">
                <a16:creationId xmlns:a16="http://schemas.microsoft.com/office/drawing/2014/main" id="{F780109A-F540-0AE5-288E-F93E4D381856}"/>
              </a:ext>
            </a:extLst>
          </p:cNvPr>
          <p:cNvSpPr/>
          <p:nvPr/>
        </p:nvSpPr>
        <p:spPr>
          <a:xfrm>
            <a:off x="548640" y="2983070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Text 21">
            <a:extLst>
              <a:ext uri="{FF2B5EF4-FFF2-40B4-BE49-F238E27FC236}">
                <a16:creationId xmlns:a16="http://schemas.microsoft.com/office/drawing/2014/main" id="{F3AEC2EA-74F7-102C-91F8-66D04F3570CD}"/>
              </a:ext>
            </a:extLst>
          </p:cNvPr>
          <p:cNvSpPr/>
          <p:nvPr/>
        </p:nvSpPr>
        <p:spPr>
          <a:xfrm>
            <a:off x="676656" y="298307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梯度累積</a:t>
            </a:r>
            <a:endParaRPr lang="en-US" sz="1220" dirty="0"/>
          </a:p>
        </p:txBody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8F4BDBA8-2A91-FA84-BDE1-7B8D3C77E2FF}"/>
              </a:ext>
            </a:extLst>
          </p:cNvPr>
          <p:cNvSpPr/>
          <p:nvPr/>
        </p:nvSpPr>
        <p:spPr>
          <a:xfrm>
            <a:off x="3657600" y="2983070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962CC667-DADC-FF7D-19D2-EA5119A6DBDF}"/>
              </a:ext>
            </a:extLst>
          </p:cNvPr>
          <p:cNvSpPr/>
          <p:nvPr/>
        </p:nvSpPr>
        <p:spPr>
          <a:xfrm>
            <a:off x="3785616" y="2983070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固定顯存下調整累積步數</a:t>
            </a:r>
            <a:endParaRPr lang="en-US" sz="1220" dirty="0"/>
          </a:p>
        </p:txBody>
      </p:sp>
      <p:sp>
        <p:nvSpPr>
          <p:cNvPr id="76" name="Shape 24">
            <a:extLst>
              <a:ext uri="{FF2B5EF4-FFF2-40B4-BE49-F238E27FC236}">
                <a16:creationId xmlns:a16="http://schemas.microsoft.com/office/drawing/2014/main" id="{7F8D27DE-C7C9-C714-6EBC-09B499E07E69}"/>
              </a:ext>
            </a:extLst>
          </p:cNvPr>
          <p:cNvSpPr/>
          <p:nvPr/>
        </p:nvSpPr>
        <p:spPr>
          <a:xfrm>
            <a:off x="8138160" y="2983070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Text 25">
            <a:extLst>
              <a:ext uri="{FF2B5EF4-FFF2-40B4-BE49-F238E27FC236}">
                <a16:creationId xmlns:a16="http://schemas.microsoft.com/office/drawing/2014/main" id="{FFE2B52D-1A03-E846-1BE5-934874269799}"/>
              </a:ext>
            </a:extLst>
          </p:cNvPr>
          <p:cNvSpPr/>
          <p:nvPr/>
        </p:nvSpPr>
        <p:spPr>
          <a:xfrm>
            <a:off x="8266176" y="2983070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 batch size 與吞吐的關係</a:t>
            </a:r>
            <a:endParaRPr lang="en-US" sz="1220" dirty="0"/>
          </a:p>
        </p:txBody>
      </p:sp>
      <p:sp>
        <p:nvSpPr>
          <p:cNvPr id="78" name="Shape 26">
            <a:extLst>
              <a:ext uri="{FF2B5EF4-FFF2-40B4-BE49-F238E27FC236}">
                <a16:creationId xmlns:a16="http://schemas.microsoft.com/office/drawing/2014/main" id="{B21AAD5E-70D8-00D2-6E27-80FD94ABFB31}"/>
              </a:ext>
            </a:extLst>
          </p:cNvPr>
          <p:cNvSpPr/>
          <p:nvPr/>
        </p:nvSpPr>
        <p:spPr>
          <a:xfrm>
            <a:off x="548640" y="3549998"/>
            <a:ext cx="310896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Text 27">
            <a:extLst>
              <a:ext uri="{FF2B5EF4-FFF2-40B4-BE49-F238E27FC236}">
                <a16:creationId xmlns:a16="http://schemas.microsoft.com/office/drawing/2014/main" id="{27ADCAA6-9D60-FE66-7044-320224395F52}"/>
              </a:ext>
            </a:extLst>
          </p:cNvPr>
          <p:cNvSpPr/>
          <p:nvPr/>
        </p:nvSpPr>
        <p:spPr>
          <a:xfrm>
            <a:off x="676656" y="354999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混合精度訓練</a:t>
            </a:r>
            <a:endParaRPr lang="en-US" sz="1220" dirty="0"/>
          </a:p>
        </p:txBody>
      </p:sp>
      <p:sp>
        <p:nvSpPr>
          <p:cNvPr id="80" name="Shape 28">
            <a:extLst>
              <a:ext uri="{FF2B5EF4-FFF2-40B4-BE49-F238E27FC236}">
                <a16:creationId xmlns:a16="http://schemas.microsoft.com/office/drawing/2014/main" id="{F86A6F7D-CD3D-3A24-6F1D-709A7349798B}"/>
              </a:ext>
            </a:extLst>
          </p:cNvPr>
          <p:cNvSpPr/>
          <p:nvPr/>
        </p:nvSpPr>
        <p:spPr>
          <a:xfrm>
            <a:off x="3657600" y="3549998"/>
            <a:ext cx="448056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Text 29">
            <a:extLst>
              <a:ext uri="{FF2B5EF4-FFF2-40B4-BE49-F238E27FC236}">
                <a16:creationId xmlns:a16="http://schemas.microsoft.com/office/drawing/2014/main" id="{F15D9E4C-8165-0640-4ED7-5FBB6D791020}"/>
              </a:ext>
            </a:extLst>
          </p:cNvPr>
          <p:cNvSpPr/>
          <p:nvPr/>
        </p:nvSpPr>
        <p:spPr>
          <a:xfrm>
            <a:off x="3785616" y="3549998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 bf16 與量化設定</a:t>
            </a:r>
            <a:endParaRPr lang="en-US" sz="1220" dirty="0"/>
          </a:p>
        </p:txBody>
      </p:sp>
      <p:sp>
        <p:nvSpPr>
          <p:cNvPr id="82" name="Shape 30">
            <a:extLst>
              <a:ext uri="{FF2B5EF4-FFF2-40B4-BE49-F238E27FC236}">
                <a16:creationId xmlns:a16="http://schemas.microsoft.com/office/drawing/2014/main" id="{B2C9CEDF-3867-0BD0-616E-6633A009B75E}"/>
              </a:ext>
            </a:extLst>
          </p:cNvPr>
          <p:cNvSpPr/>
          <p:nvPr/>
        </p:nvSpPr>
        <p:spPr>
          <a:xfrm>
            <a:off x="8138160" y="3549998"/>
            <a:ext cx="347472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Text 31">
            <a:extLst>
              <a:ext uri="{FF2B5EF4-FFF2-40B4-BE49-F238E27FC236}">
                <a16:creationId xmlns:a16="http://schemas.microsoft.com/office/drawing/2014/main" id="{524D3700-814A-8BBF-741C-2048E817412A}"/>
              </a:ext>
            </a:extLst>
          </p:cNvPr>
          <p:cNvSpPr/>
          <p:nvPr/>
        </p:nvSpPr>
        <p:spPr>
          <a:xfrm>
            <a:off x="8266176" y="3549998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精度對顯存、速度、品質的影響</a:t>
            </a:r>
            <a:endParaRPr lang="en-US" sz="1220" dirty="0"/>
          </a:p>
        </p:txBody>
      </p:sp>
      <p:sp>
        <p:nvSpPr>
          <p:cNvPr id="84" name="Shape 32">
            <a:extLst>
              <a:ext uri="{FF2B5EF4-FFF2-40B4-BE49-F238E27FC236}">
                <a16:creationId xmlns:a16="http://schemas.microsoft.com/office/drawing/2014/main" id="{F2374947-C258-7DF4-D186-D9C8D4EB32F2}"/>
              </a:ext>
            </a:extLst>
          </p:cNvPr>
          <p:cNvSpPr/>
          <p:nvPr/>
        </p:nvSpPr>
        <p:spPr>
          <a:xfrm>
            <a:off x="548640" y="4116926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Text 33">
            <a:extLst>
              <a:ext uri="{FF2B5EF4-FFF2-40B4-BE49-F238E27FC236}">
                <a16:creationId xmlns:a16="http://schemas.microsoft.com/office/drawing/2014/main" id="{FEF469F1-B325-D8EB-E520-BA1A67CD6E3E}"/>
              </a:ext>
            </a:extLst>
          </p:cNvPr>
          <p:cNvSpPr/>
          <p:nvPr/>
        </p:nvSpPr>
        <p:spPr>
          <a:xfrm>
            <a:off x="676656" y="4116926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資料平行 / ZeRO</a:t>
            </a:r>
            <a:endParaRPr lang="en-US" sz="1220" dirty="0"/>
          </a:p>
        </p:txBody>
      </p:sp>
      <p:sp>
        <p:nvSpPr>
          <p:cNvPr id="86" name="Shape 34">
            <a:extLst>
              <a:ext uri="{FF2B5EF4-FFF2-40B4-BE49-F238E27FC236}">
                <a16:creationId xmlns:a16="http://schemas.microsoft.com/office/drawing/2014/main" id="{56B2B836-8910-92EE-F0FD-69B4016F32BF}"/>
              </a:ext>
            </a:extLst>
          </p:cNvPr>
          <p:cNvSpPr/>
          <p:nvPr/>
        </p:nvSpPr>
        <p:spPr>
          <a:xfrm>
            <a:off x="3657600" y="4116926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Text 35">
            <a:extLst>
              <a:ext uri="{FF2B5EF4-FFF2-40B4-BE49-F238E27FC236}">
                <a16:creationId xmlns:a16="http://schemas.microsoft.com/office/drawing/2014/main" id="{26250242-2F81-648A-5972-659975030460}"/>
              </a:ext>
            </a:extLst>
          </p:cNvPr>
          <p:cNvSpPr/>
          <p:nvPr/>
        </p:nvSpPr>
        <p:spPr>
          <a:xfrm>
            <a:off x="3785616" y="4116926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多卡可用時跑 DDP 與 ZeRO 分片</a:t>
            </a:r>
            <a:endParaRPr lang="en-US" sz="1220" dirty="0"/>
          </a:p>
        </p:txBody>
      </p:sp>
      <p:sp>
        <p:nvSpPr>
          <p:cNvPr id="88" name="Shape 36">
            <a:extLst>
              <a:ext uri="{FF2B5EF4-FFF2-40B4-BE49-F238E27FC236}">
                <a16:creationId xmlns:a16="http://schemas.microsoft.com/office/drawing/2014/main" id="{2BA3CB85-BD72-2BF9-DFC6-56F9ACF8F3F8}"/>
              </a:ext>
            </a:extLst>
          </p:cNvPr>
          <p:cNvSpPr/>
          <p:nvPr/>
        </p:nvSpPr>
        <p:spPr>
          <a:xfrm>
            <a:off x="8138160" y="4116926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9" name="Text 37">
            <a:extLst>
              <a:ext uri="{FF2B5EF4-FFF2-40B4-BE49-F238E27FC236}">
                <a16:creationId xmlns:a16="http://schemas.microsoft.com/office/drawing/2014/main" id="{6E34451E-BC6D-7D14-4A10-518042AA5844}"/>
              </a:ext>
            </a:extLst>
          </p:cNvPr>
          <p:cNvSpPr/>
          <p:nvPr/>
        </p:nvSpPr>
        <p:spPr>
          <a:xfrm>
            <a:off x="8266176" y="4116926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顯存分片的實際節省幅度</a:t>
            </a:r>
            <a:endParaRPr lang="en-US" sz="1220" dirty="0"/>
          </a:p>
        </p:txBody>
      </p:sp>
      <p:sp>
        <p:nvSpPr>
          <p:cNvPr id="90" name="Shape 38">
            <a:extLst>
              <a:ext uri="{FF2B5EF4-FFF2-40B4-BE49-F238E27FC236}">
                <a16:creationId xmlns:a16="http://schemas.microsoft.com/office/drawing/2014/main" id="{4CF97245-E2CD-599B-AB19-AD24869F352D}"/>
              </a:ext>
            </a:extLst>
          </p:cNvPr>
          <p:cNvSpPr/>
          <p:nvPr/>
        </p:nvSpPr>
        <p:spPr>
          <a:xfrm>
            <a:off x="548640" y="4683854"/>
            <a:ext cx="310896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Text 39">
            <a:extLst>
              <a:ext uri="{FF2B5EF4-FFF2-40B4-BE49-F238E27FC236}">
                <a16:creationId xmlns:a16="http://schemas.microsoft.com/office/drawing/2014/main" id="{8214C754-2A6C-411F-87B7-27865C6FBC24}"/>
              </a:ext>
            </a:extLst>
          </p:cNvPr>
          <p:cNvSpPr/>
          <p:nvPr/>
        </p:nvSpPr>
        <p:spPr>
          <a:xfrm>
            <a:off x="676656" y="4683854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專家平行（EP）</a:t>
            </a:r>
            <a:endParaRPr lang="en-US" sz="1220" dirty="0"/>
          </a:p>
        </p:txBody>
      </p:sp>
      <p:sp>
        <p:nvSpPr>
          <p:cNvPr id="92" name="Shape 40">
            <a:extLst>
              <a:ext uri="{FF2B5EF4-FFF2-40B4-BE49-F238E27FC236}">
                <a16:creationId xmlns:a16="http://schemas.microsoft.com/office/drawing/2014/main" id="{635911F2-4046-5DFB-3E8F-2856F2C873FA}"/>
              </a:ext>
            </a:extLst>
          </p:cNvPr>
          <p:cNvSpPr/>
          <p:nvPr/>
        </p:nvSpPr>
        <p:spPr>
          <a:xfrm>
            <a:off x="3657600" y="4683854"/>
            <a:ext cx="448056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Text 41">
            <a:extLst>
              <a:ext uri="{FF2B5EF4-FFF2-40B4-BE49-F238E27FC236}">
                <a16:creationId xmlns:a16="http://schemas.microsoft.com/office/drawing/2014/main" id="{CA07C560-CE7D-4D9B-5276-B785A3E64468}"/>
              </a:ext>
            </a:extLst>
          </p:cNvPr>
          <p:cNvSpPr/>
          <p:nvPr/>
        </p:nvSpPr>
        <p:spPr>
          <a:xfrm>
            <a:off x="3785616" y="4683854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GPT-OSS 本身即 MoE，觀察路由與 active 參數</a:t>
            </a:r>
            <a:endParaRPr lang="en-US" sz="1220" dirty="0"/>
          </a:p>
        </p:txBody>
      </p:sp>
      <p:sp>
        <p:nvSpPr>
          <p:cNvPr id="94" name="Shape 42">
            <a:extLst>
              <a:ext uri="{FF2B5EF4-FFF2-40B4-BE49-F238E27FC236}">
                <a16:creationId xmlns:a16="http://schemas.microsoft.com/office/drawing/2014/main" id="{714FD279-674F-8F1A-9589-E7F0F1AD4291}"/>
              </a:ext>
            </a:extLst>
          </p:cNvPr>
          <p:cNvSpPr/>
          <p:nvPr/>
        </p:nvSpPr>
        <p:spPr>
          <a:xfrm>
            <a:off x="8138160" y="4683854"/>
            <a:ext cx="347472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Text 43">
            <a:extLst>
              <a:ext uri="{FF2B5EF4-FFF2-40B4-BE49-F238E27FC236}">
                <a16:creationId xmlns:a16="http://schemas.microsoft.com/office/drawing/2014/main" id="{CF176B38-8FD6-5E17-312A-532EF281187A}"/>
              </a:ext>
            </a:extLst>
          </p:cNvPr>
          <p:cNvSpPr/>
          <p:nvPr/>
        </p:nvSpPr>
        <p:spPr>
          <a:xfrm>
            <a:off x="8266176" y="4683854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 20.9B 只需 active 3.6B</a:t>
            </a:r>
            <a:endParaRPr lang="en-US" sz="1220" dirty="0"/>
          </a:p>
        </p:txBody>
      </p:sp>
      <p:sp>
        <p:nvSpPr>
          <p:cNvPr id="96" name="Shape 44">
            <a:extLst>
              <a:ext uri="{FF2B5EF4-FFF2-40B4-BE49-F238E27FC236}">
                <a16:creationId xmlns:a16="http://schemas.microsoft.com/office/drawing/2014/main" id="{311BC0B8-B558-ECC9-D8B3-603F9E5E89F4}"/>
              </a:ext>
            </a:extLst>
          </p:cNvPr>
          <p:cNvSpPr/>
          <p:nvPr/>
        </p:nvSpPr>
        <p:spPr>
          <a:xfrm>
            <a:off x="548640" y="5250782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Text 45">
            <a:extLst>
              <a:ext uri="{FF2B5EF4-FFF2-40B4-BE49-F238E27FC236}">
                <a16:creationId xmlns:a16="http://schemas.microsoft.com/office/drawing/2014/main" id="{D0806E26-795C-18EC-191C-AC5B2AD3859D}"/>
              </a:ext>
            </a:extLst>
          </p:cNvPr>
          <p:cNvSpPr/>
          <p:nvPr/>
        </p:nvSpPr>
        <p:spPr>
          <a:xfrm>
            <a:off x="676656" y="5250782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尋找最佳訓練配置</a:t>
            </a:r>
            <a:endParaRPr lang="en-US" sz="1220" dirty="0"/>
          </a:p>
        </p:txBody>
      </p:sp>
      <p:sp>
        <p:nvSpPr>
          <p:cNvPr id="98" name="Shape 46">
            <a:extLst>
              <a:ext uri="{FF2B5EF4-FFF2-40B4-BE49-F238E27FC236}">
                <a16:creationId xmlns:a16="http://schemas.microsoft.com/office/drawing/2014/main" id="{A3BFDD58-8030-6AD8-40D7-7F2DDEB8E262}"/>
              </a:ext>
            </a:extLst>
          </p:cNvPr>
          <p:cNvSpPr/>
          <p:nvPr/>
        </p:nvSpPr>
        <p:spPr>
          <a:xfrm>
            <a:off x="3657600" y="5250782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B060864B-B011-A5F0-3508-120AA9DD6E7B}"/>
              </a:ext>
            </a:extLst>
          </p:cNvPr>
          <p:cNvSpPr/>
          <p:nvPr/>
        </p:nvSpPr>
        <p:spPr>
          <a:xfrm>
            <a:off x="3785616" y="5250782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依書中決策流程收斂到最終設定</a:t>
            </a:r>
            <a:endParaRPr lang="en-US" sz="1220" dirty="0"/>
          </a:p>
        </p:txBody>
      </p:sp>
      <p:sp>
        <p:nvSpPr>
          <p:cNvPr id="100" name="Shape 48">
            <a:extLst>
              <a:ext uri="{FF2B5EF4-FFF2-40B4-BE49-F238E27FC236}">
                <a16:creationId xmlns:a16="http://schemas.microsoft.com/office/drawing/2014/main" id="{8CC18CE5-6957-99C2-F766-005261215E71}"/>
              </a:ext>
            </a:extLst>
          </p:cNvPr>
          <p:cNvSpPr/>
          <p:nvPr/>
        </p:nvSpPr>
        <p:spPr>
          <a:xfrm>
            <a:off x="8138160" y="5250782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Text 49">
            <a:extLst>
              <a:ext uri="{FF2B5EF4-FFF2-40B4-BE49-F238E27FC236}">
                <a16:creationId xmlns:a16="http://schemas.microsoft.com/office/drawing/2014/main" id="{D32203B9-5AFA-7619-0B97-F46C6CA9C491}"/>
              </a:ext>
            </a:extLst>
          </p:cNvPr>
          <p:cNvSpPr/>
          <p:nvPr/>
        </p:nvSpPr>
        <p:spPr>
          <a:xfrm>
            <a:off x="8266176" y="5250782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2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配置選擇有據可循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>
            <a:extLst>
              <a:ext uri="{FF2B5EF4-FFF2-40B4-BE49-F238E27FC236}">
                <a16:creationId xmlns:a16="http://schemas.microsoft.com/office/drawing/2014/main" id="{E8FF419F-24D6-407B-A6D9-310D8BD6172D}"/>
              </a:ext>
            </a:extLst>
          </p:cNvPr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實驗流程</a:t>
            </a:r>
            <a:endParaRPr lang="en-US" sz="30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D6E71F6D-0C72-32A5-5F85-76F096D156F3}"/>
              </a:ext>
            </a:extLst>
          </p:cNvPr>
          <p:cNvSpPr/>
          <p:nvPr/>
        </p:nvSpPr>
        <p:spPr>
          <a:xfrm>
            <a:off x="548640" y="1360117"/>
            <a:ext cx="658368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B1A83756-C292-6059-4677-95C569BEDEE1}"/>
              </a:ext>
            </a:extLst>
          </p:cNvPr>
          <p:cNvSpPr/>
          <p:nvPr/>
        </p:nvSpPr>
        <p:spPr>
          <a:xfrm>
            <a:off x="548640" y="1360117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5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D446CE24-DCCE-C6A0-681E-A428A5F7A6F0}"/>
              </a:ext>
            </a:extLst>
          </p:cNvPr>
          <p:cNvSpPr/>
          <p:nvPr/>
        </p:nvSpPr>
        <p:spPr>
          <a:xfrm>
            <a:off x="1463040" y="1533853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資料準備</a:t>
            </a:r>
            <a:endParaRPr lang="en-US" sz="155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5F908E2F-9A4D-EDF6-42FB-090E38B9796D}"/>
              </a:ext>
            </a:extLst>
          </p:cNvPr>
          <p:cNvSpPr/>
          <p:nvPr/>
        </p:nvSpPr>
        <p:spPr>
          <a:xfrm>
            <a:off x="3291840" y="1585547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 → 清理去重 → 套 GPT-OSS chat template → 切 train/val（抽 5k–10k）</a:t>
            </a:r>
            <a:endParaRPr lang="en-US" sz="135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113ED436-B480-DA70-3E99-4173D9B488A5}"/>
              </a:ext>
            </a:extLst>
          </p:cNvPr>
          <p:cNvSpPr/>
          <p:nvPr/>
        </p:nvSpPr>
        <p:spPr>
          <a:xfrm>
            <a:off x="548640" y="2228797"/>
            <a:ext cx="658368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B338638B-5D11-04E1-06D5-4766DCF3D0EC}"/>
              </a:ext>
            </a:extLst>
          </p:cNvPr>
          <p:cNvSpPr/>
          <p:nvPr/>
        </p:nvSpPr>
        <p:spPr>
          <a:xfrm>
            <a:off x="548640" y="2228797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5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7CDF51CE-0139-6DF9-2CD5-A0D9C2B80FAC}"/>
              </a:ext>
            </a:extLst>
          </p:cNvPr>
          <p:cNvSpPr/>
          <p:nvPr/>
        </p:nvSpPr>
        <p:spPr>
          <a:xfrm>
            <a:off x="1463040" y="2402533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基準量測</a:t>
            </a:r>
            <a:endParaRPr lang="en-US" sz="155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6DD37B85-7870-1B20-FA6B-17CC46D72B3F}"/>
              </a:ext>
            </a:extLst>
          </p:cNvPr>
          <p:cNvSpPr/>
          <p:nvPr/>
        </p:nvSpPr>
        <p:spPr>
          <a:xfrm>
            <a:off x="3291840" y="2454227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微調前先跑一次評估與記憶體 profiling，建立 baseline</a:t>
            </a:r>
            <a:endParaRPr lang="en-US" sz="135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6602B746-EADB-E286-47C5-1B8B2276F9A4}"/>
              </a:ext>
            </a:extLst>
          </p:cNvPr>
          <p:cNvSpPr/>
          <p:nvPr/>
        </p:nvSpPr>
        <p:spPr>
          <a:xfrm>
            <a:off x="548640" y="3097477"/>
            <a:ext cx="658368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32DF76F9-9B8B-4346-DD23-C9A30C13A3CF}"/>
              </a:ext>
            </a:extLst>
          </p:cNvPr>
          <p:cNvSpPr/>
          <p:nvPr/>
        </p:nvSpPr>
        <p:spPr>
          <a:xfrm>
            <a:off x="548640" y="3097477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5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C772E93-DD3F-B897-49A3-FE8CD3B6D5C2}"/>
              </a:ext>
            </a:extLst>
          </p:cNvPr>
          <p:cNvSpPr/>
          <p:nvPr/>
        </p:nvSpPr>
        <p:spPr>
          <a:xfrm>
            <a:off x="1463040" y="3271213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微調訓練</a:t>
            </a:r>
            <a:endParaRPr lang="en-US" sz="155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F1B24929-E1D5-EE95-C025-A0375630BA69}"/>
              </a:ext>
            </a:extLst>
          </p:cNvPr>
          <p:cNvSpPr/>
          <p:nvPr/>
        </p:nvSpPr>
        <p:spPr>
          <a:xfrm>
            <a:off x="3291840" y="3322907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LoRA / QLoRA 微調 GPT-OSS 20B，記錄記憶體、吞吐、loss</a:t>
            </a:r>
            <a:endParaRPr lang="en-US" sz="135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96396889-60D9-1480-4B1D-0DFA0511DAC9}"/>
              </a:ext>
            </a:extLst>
          </p:cNvPr>
          <p:cNvSpPr/>
          <p:nvPr/>
        </p:nvSpPr>
        <p:spPr>
          <a:xfrm>
            <a:off x="548640" y="3966157"/>
            <a:ext cx="658368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8A44581E-20AC-6A28-1F34-41256DB38B55}"/>
              </a:ext>
            </a:extLst>
          </p:cNvPr>
          <p:cNvSpPr/>
          <p:nvPr/>
        </p:nvSpPr>
        <p:spPr>
          <a:xfrm>
            <a:off x="548640" y="3966157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5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3C13AAFE-F146-3FC4-3D2F-4095B4E3331D}"/>
              </a:ext>
            </a:extLst>
          </p:cNvPr>
          <p:cNvSpPr/>
          <p:nvPr/>
        </p:nvSpPr>
        <p:spPr>
          <a:xfrm>
            <a:off x="1463040" y="4139893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消融實驗</a:t>
            </a:r>
            <a:endParaRPr lang="en-US" sz="155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18876B39-E791-B34A-9436-378ABB41AD2B}"/>
              </a:ext>
            </a:extLst>
          </p:cNvPr>
          <p:cNvSpPr/>
          <p:nvPr/>
        </p:nvSpPr>
        <p:spPr>
          <a:xfrm>
            <a:off x="3291840" y="4191587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開關 activation checkpointing、調精度與梯度累積，量取捨曲線</a:t>
            </a:r>
            <a:endParaRPr lang="en-US" sz="1350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6765C6FA-5A4B-EA8D-553F-8CAE8AA4E890}"/>
              </a:ext>
            </a:extLst>
          </p:cNvPr>
          <p:cNvSpPr/>
          <p:nvPr/>
        </p:nvSpPr>
        <p:spPr>
          <a:xfrm>
            <a:off x="548640" y="4834837"/>
            <a:ext cx="658368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15D35D08-0918-D2EC-08BF-CBA801267AC2}"/>
              </a:ext>
            </a:extLst>
          </p:cNvPr>
          <p:cNvSpPr/>
          <p:nvPr/>
        </p:nvSpPr>
        <p:spPr>
          <a:xfrm>
            <a:off x="548640" y="4834837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5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239A9092-BCFA-F553-9A2E-BD7B99E64BE2}"/>
              </a:ext>
            </a:extLst>
          </p:cNvPr>
          <p:cNvSpPr/>
          <p:nvPr/>
        </p:nvSpPr>
        <p:spPr>
          <a:xfrm>
            <a:off x="1463040" y="5008573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評估彙整</a:t>
            </a:r>
            <a:endParaRPr lang="en-US" sz="155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19705562-DBB6-06F0-83CA-11D06278E220}"/>
              </a:ext>
            </a:extLst>
          </p:cNvPr>
          <p:cNvSpPr/>
          <p:nvPr/>
        </p:nvSpPr>
        <p:spPr>
          <a:xfrm>
            <a:off x="3291840" y="5060267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微調前後對比，與書中公式對照，整理成簡報</a:t>
            </a:r>
            <a:endParaRPr lang="en-US" sz="13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A9F037CE-AAA1-98D1-1200-86FAD86B3B57}"/>
              </a:ext>
            </a:extLst>
          </p:cNvPr>
          <p:cNvSpPr/>
          <p:nvPr/>
        </p:nvSpPr>
        <p:spPr>
          <a:xfrm>
            <a:off x="548640" y="5776669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消融（ablation）＝ 每次只改一個設定，看它對記憶體與速度的實際影響，藉此驗證書中描述的取捨是否成立。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資料集準備細節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twinkle-ai/tw-reasoning-instruct-50k：5 萬筆 · MIT 授權 · ShareGPT 格式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13232" y="1554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載入與確認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383280" y="1591056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load_dataset 取得資料，確認欄位（conversations / think / output / seed）與授權範圍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13232" y="2304288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30428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清理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383280" y="2340864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濾除過長過短樣本、格式損壞列、think 或 output 空白者；確認無簡體殘留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11064240" cy="7315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713232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05409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去重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383280" y="3090672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近似重複偵測，避免同一題型灌水造成過擬合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380390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80390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 chat template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383280" y="3840480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ShareGPT 的 {from, value} 轉為 {role, content}，再以 tokenizer.apply_chat_template 套上 GPT-OSS 的對話格式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548640" y="4553712"/>
            <a:ext cx="11064240" cy="7315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13232" y="4553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455371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切分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383280" y="459028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抽樣 5k–10k 筆作為小實驗規模，切 95 / 5 的 train / validation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713232" y="53035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5303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評估集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383280" y="5340096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另以 ikala/tmmluplus 作為外部評測，比較微調前後在台灣知識題上的表現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>
            <a:extLst>
              <a:ext uri="{FF2B5EF4-FFF2-40B4-BE49-F238E27FC236}">
                <a16:creationId xmlns:a16="http://schemas.microsoft.com/office/drawing/2014/main" id="{661A1800-30E1-9AAB-B348-0FB7B21B7F62}"/>
              </a:ext>
            </a:extLst>
          </p:cNvPr>
          <p:cNvSpPr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時程與里程碑</a:t>
            </a:r>
            <a:endParaRPr lang="en-US" sz="3000" dirty="0"/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A59A625B-0001-8AA9-9053-83BE2EA01110}"/>
              </a:ext>
            </a:extLst>
          </p:cNvPr>
          <p:cNvSpPr/>
          <p:nvPr/>
        </p:nvSpPr>
        <p:spPr>
          <a:xfrm>
            <a:off x="548640" y="1572768"/>
            <a:ext cx="3520440" cy="3447288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9CCF5777-19DB-BCF6-3DC2-1DE7EEC12996}"/>
              </a:ext>
            </a:extLst>
          </p:cNvPr>
          <p:cNvSpPr/>
          <p:nvPr/>
        </p:nvSpPr>
        <p:spPr>
          <a:xfrm>
            <a:off x="548640" y="1572768"/>
            <a:ext cx="35204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7598BB39-A5AA-E70D-52C8-BE2EBCAE52CD}"/>
              </a:ext>
            </a:extLst>
          </p:cNvPr>
          <p:cNvSpPr/>
          <p:nvPr/>
        </p:nvSpPr>
        <p:spPr>
          <a:xfrm>
            <a:off x="777240" y="15727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1</a:t>
            </a:r>
            <a:endParaRPr lang="en-US" sz="1600" dirty="0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0A2DF298-A1BF-E524-CD04-A85FE98C9B89}"/>
              </a:ext>
            </a:extLst>
          </p:cNvPr>
          <p:cNvSpPr/>
          <p:nvPr/>
        </p:nvSpPr>
        <p:spPr>
          <a:xfrm>
            <a:off x="77724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讀通機制 + 資料就緒</a:t>
            </a:r>
            <a:endParaRPr lang="en-US" sz="1500" dirty="0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974391E5-9FDE-0864-A85D-67AAF6831E50}"/>
              </a:ext>
            </a:extLst>
          </p:cNvPr>
          <p:cNvSpPr/>
          <p:nvPr/>
        </p:nvSpPr>
        <p:spPr>
          <a:xfrm>
            <a:off x="777240" y="274320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精讀 Playbook 核心章節（記憶體、精度、DP/ZeRO、EP）</a:t>
            </a:r>
            <a:endParaRPr lang="en-US" sz="123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環境建置與 GPT-OSS 20B 載入驗證</a:t>
            </a:r>
            <a:endParaRPr lang="en-US" sz="123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完成資料清理、去重、template、切分</a:t>
            </a:r>
            <a:endParaRPr lang="en-US" sz="123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跑出 baseline 評估數字</a:t>
            </a:r>
            <a:endParaRPr lang="en-US" sz="1230" dirty="0"/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D3843DD3-DA8F-9945-4B30-A4C6B80D8BA8}"/>
              </a:ext>
            </a:extLst>
          </p:cNvPr>
          <p:cNvSpPr/>
          <p:nvPr/>
        </p:nvSpPr>
        <p:spPr>
          <a:xfrm>
            <a:off x="4343400" y="1572768"/>
            <a:ext cx="3520440" cy="3447288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A6F71029-A781-C226-3669-1F75E5A433AE}"/>
              </a:ext>
            </a:extLst>
          </p:cNvPr>
          <p:cNvSpPr/>
          <p:nvPr/>
        </p:nvSpPr>
        <p:spPr>
          <a:xfrm>
            <a:off x="4343400" y="1572768"/>
            <a:ext cx="35204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883D746F-711C-C24A-77DA-159B530962E9}"/>
              </a:ext>
            </a:extLst>
          </p:cNvPr>
          <p:cNvSpPr/>
          <p:nvPr/>
        </p:nvSpPr>
        <p:spPr>
          <a:xfrm>
            <a:off x="4572000" y="15727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2~3</a:t>
            </a:r>
            <a:endParaRPr lang="en-US" sz="16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57195314-6C06-EBF9-B3E8-A3010BAA97A4}"/>
              </a:ext>
            </a:extLst>
          </p:cNvPr>
          <p:cNvSpPr/>
          <p:nvPr/>
        </p:nvSpPr>
        <p:spPr>
          <a:xfrm>
            <a:off x="457200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GPT-OSS 微調</a:t>
            </a:r>
            <a:endParaRPr lang="en-US" sz="150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38CF7E6E-3C29-7882-0385-D414579F94A0}"/>
              </a:ext>
            </a:extLst>
          </p:cNvPr>
          <p:cNvSpPr/>
          <p:nvPr/>
        </p:nvSpPr>
        <p:spPr>
          <a:xfrm>
            <a:off x="4572000" y="274320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LoRA / QLoRA 微調跑通</a:t>
            </a:r>
            <a:endParaRPr lang="en-US" sz="123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記憶體 profiling 與吞吐量測</a:t>
            </a:r>
            <a:endParaRPr lang="en-US" sz="123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checkpointing / 精度 / 梯度累積消融</a:t>
            </a:r>
            <a:endParaRPr lang="en-US" sz="123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微調前後評估（tmmluplus）</a:t>
            </a:r>
            <a:endParaRPr lang="en-US" sz="1230" dirty="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99DDE807-AF5F-8D05-B24D-EDD928969175}"/>
              </a:ext>
            </a:extLst>
          </p:cNvPr>
          <p:cNvSpPr/>
          <p:nvPr/>
        </p:nvSpPr>
        <p:spPr>
          <a:xfrm>
            <a:off x="8138160" y="1572768"/>
            <a:ext cx="3520440" cy="3447288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34F63305-9796-59BC-5456-E48873CC68D6}"/>
              </a:ext>
            </a:extLst>
          </p:cNvPr>
          <p:cNvSpPr/>
          <p:nvPr/>
        </p:nvSpPr>
        <p:spPr>
          <a:xfrm>
            <a:off x="8138160" y="1572768"/>
            <a:ext cx="35204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93C695CC-4201-5B8B-FFB4-1E864EDC01C4}"/>
              </a:ext>
            </a:extLst>
          </p:cNvPr>
          <p:cNvSpPr/>
          <p:nvPr/>
        </p:nvSpPr>
        <p:spPr>
          <a:xfrm>
            <a:off x="8366760" y="15727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收尾+延伸</a:t>
            </a:r>
            <a:endParaRPr lang="en-US" sz="1600" dirty="0"/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7D197A4E-3AA1-E81C-08B7-D9C8437C5D29}"/>
              </a:ext>
            </a:extLst>
          </p:cNvPr>
          <p:cNvSpPr/>
          <p:nvPr/>
        </p:nvSpPr>
        <p:spPr>
          <a:xfrm>
            <a:off x="836676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DiffusionGemma</a:t>
            </a: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彙整</a:t>
            </a:r>
            <a:endParaRPr lang="en-US" sz="1500" dirty="0"/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1AC617EE-DCD0-67C4-E4D9-6F5A48289264}"/>
              </a:ext>
            </a:extLst>
          </p:cNvPr>
          <p:cNvSpPr/>
          <p:nvPr/>
        </p:nvSpPr>
        <p:spPr>
          <a:xfrm>
            <a:off x="8366760" y="274320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DiffusionGemma 推論部署與取樣參數實測</a:t>
            </a:r>
            <a:endParaRPr lang="en-US" sz="123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以同一份資料進行小規模微調</a:t>
            </a:r>
            <a:endParaRPr lang="en-US" sz="123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 vs DLM 對比：品質、吞吐、記憶體</a:t>
            </a:r>
            <a:endParaRPr lang="en-US" sz="123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撰寫簡報與整理可複現程式碼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7826" y="229798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成功標準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7826" y="2718606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個模型檢查點：兩種範式 × 微調前後，皆可複現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評測結果表：準確率、吞吐、峰值記憶體同表併列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能說明表中差異的成因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實驗實測值能對回</a:t>
            </a: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Playbook 公式，落差可解釋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52826" y="228747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資源需求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52826" y="3072936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FontTx/>
              <a:buChar char="•"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單張 GPU（24 GB VRAM </a:t>
            </a:r>
            <a:r>
              <a:rPr lang="en-US" sz="13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以上）理論上可完成主體實驗</a:t>
            </a:r>
            <a:b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(48GB </a:t>
            </a:r>
            <a:r>
              <a:rPr lang="zh-TW" alt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以上較適合穩定完成主體與消融 </a:t>
            </a:r>
            <a:r>
              <a:rPr lang="en-US" altLang="zh-TW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若能提供</a:t>
            </a: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2 張以上 GPU，可額外實作 DP / ZeRO 章節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模型與資料皆為開源，無授權成本</a:t>
            </a:r>
            <a:endParaRPr lang="en-US" sz="1350" dirty="0">
              <a:solidFill>
                <a:srgbClr val="1A1A1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endParaRPr lang="en-US" sz="1350" dirty="0">
              <a:solidFill>
                <a:srgbClr val="1A1A1A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endParaRPr lang="en-US" sz="1350" dirty="0">
              <a:solidFill>
                <a:srgbClr val="1A1A1A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3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</a:rPr>
              <a:t>另需</a:t>
            </a: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</a:rPr>
              <a:t> 64GB RAM </a:t>
            </a:r>
            <a:r>
              <a:rPr lang="zh-TW" alt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</a:rPr>
              <a:t>與約 </a:t>
            </a:r>
            <a:r>
              <a:rPr lang="en-US" altLang="zh-TW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</a:rPr>
              <a:t>150</a:t>
            </a: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</a:rPr>
              <a:t>GB </a:t>
            </a:r>
            <a:r>
              <a:rPr lang="zh-TW" alt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</a:rPr>
              <a:t>儲存空間留給權重、</a:t>
            </a:r>
            <a:r>
              <a:rPr lang="en-US" sz="1350" dirty="0" err="1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</a:rPr>
              <a:t>cache、checkpoint</a:t>
            </a: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</a:rPr>
              <a:t> </a:t>
            </a:r>
            <a:r>
              <a:rPr lang="zh-TW" alt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</a:rPr>
              <a:t>與 </a:t>
            </a: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</a:rPr>
              <a:t>profiler。 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0408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評測結果表範例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2331720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1536192"/>
            <a:ext cx="1783080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990088" y="153619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生成範式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36192"/>
            <a:ext cx="2148840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773168" y="1536192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微調資料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12280" y="1536192"/>
            <a:ext cx="1874520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922008" y="1536192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TMMLU+ 準確率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0" y="1536192"/>
            <a:ext cx="1463040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796528" y="153619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吞吐 tok/s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149840" y="1536192"/>
            <a:ext cx="1463040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10259568" y="153619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峰值記憶體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1956816"/>
            <a:ext cx="2331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58368" y="1956816"/>
            <a:ext cx="21122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GPT-OSS 20B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80360" y="1956816"/>
            <a:ext cx="17830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990088" y="1956816"/>
            <a:ext cx="15636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自迴歸（AR）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956816"/>
            <a:ext cx="2148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773168" y="1956816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無（baseline）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1956816"/>
            <a:ext cx="18745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23" name="Text 21"/>
          <p:cNvSpPr/>
          <p:nvPr/>
        </p:nvSpPr>
        <p:spPr>
          <a:xfrm>
            <a:off x="6922008" y="1956816"/>
            <a:ext cx="1655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0" y="1956816"/>
            <a:ext cx="14630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8796528" y="1956816"/>
            <a:ext cx="1243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149840" y="1956816"/>
            <a:ext cx="14630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10259568" y="1956816"/>
            <a:ext cx="1243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386584"/>
            <a:ext cx="2331720" cy="4297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58368" y="2386584"/>
            <a:ext cx="21122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GPT-OSS 20B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80360" y="2386584"/>
            <a:ext cx="1783080" cy="4297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2990088" y="2386584"/>
            <a:ext cx="15636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自迴歸（AR）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2386584"/>
            <a:ext cx="2148840" cy="4297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773168" y="2386584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tw-reasoning 5k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12280" y="2386584"/>
            <a:ext cx="1874520" cy="4297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5" name="Text 33"/>
          <p:cNvSpPr/>
          <p:nvPr/>
        </p:nvSpPr>
        <p:spPr>
          <a:xfrm>
            <a:off x="6922008" y="2386584"/>
            <a:ext cx="1655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686800" y="2386584"/>
            <a:ext cx="1463040" cy="4297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8796528" y="2386584"/>
            <a:ext cx="1243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149840" y="2386584"/>
            <a:ext cx="1463040" cy="4297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10259568" y="2386584"/>
            <a:ext cx="1243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2816352"/>
            <a:ext cx="2331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658368" y="2816352"/>
            <a:ext cx="21122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DiffusionGemma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880360" y="2816352"/>
            <a:ext cx="17830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2990088" y="2816352"/>
            <a:ext cx="15636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擴散（DLM）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63440" y="2816352"/>
            <a:ext cx="2148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/>
          <p:nvPr/>
        </p:nvSpPr>
        <p:spPr>
          <a:xfrm>
            <a:off x="4773168" y="2816352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無（baseline）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12280" y="2816352"/>
            <a:ext cx="18745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6922008" y="2816352"/>
            <a:ext cx="1655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686800" y="2816352"/>
            <a:ext cx="14630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8796528" y="2816352"/>
            <a:ext cx="1243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149840" y="2816352"/>
            <a:ext cx="14630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10259568" y="2816352"/>
            <a:ext cx="1243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3246120"/>
            <a:ext cx="2331720" cy="4297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/>
          <p:nvPr/>
        </p:nvSpPr>
        <p:spPr>
          <a:xfrm>
            <a:off x="658368" y="3246120"/>
            <a:ext cx="21122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DiffusionGemma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880360" y="3246120"/>
            <a:ext cx="1783080" cy="4297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2990088" y="3246120"/>
            <a:ext cx="15636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擴散（DLM）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63440" y="3246120"/>
            <a:ext cx="2148840" cy="4297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/>
          <p:nvPr/>
        </p:nvSpPr>
        <p:spPr>
          <a:xfrm>
            <a:off x="4773168" y="3246120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tw-reasoning 5k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12280" y="3246120"/>
            <a:ext cx="1874520" cy="4297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7"/>
          <p:cNvSpPr/>
          <p:nvPr/>
        </p:nvSpPr>
        <p:spPr>
          <a:xfrm>
            <a:off x="6922008" y="3246120"/>
            <a:ext cx="1655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686800" y="3246120"/>
            <a:ext cx="1463040" cy="4297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9"/>
          <p:cNvSpPr/>
          <p:nvPr/>
        </p:nvSpPr>
        <p:spPr>
          <a:xfrm>
            <a:off x="8796528" y="3246120"/>
            <a:ext cx="1243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0149840" y="3246120"/>
            <a:ext cx="1463040" cy="4297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61"/>
          <p:cNvSpPr/>
          <p:nvPr/>
        </p:nvSpPr>
        <p:spPr>
          <a:xfrm>
            <a:off x="10259568" y="3246120"/>
            <a:ext cx="1243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48640" y="389534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</a:rPr>
              <a:t>以此回答</a:t>
            </a:r>
            <a:r>
              <a:rPr lang="en-US" sz="1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</a:rPr>
              <a:t>：</a:t>
            </a:r>
            <a:endParaRPr lang="en-US" sz="1700" dirty="0"/>
          </a:p>
        </p:txBody>
      </p:sp>
      <p:sp>
        <p:nvSpPr>
          <p:cNvPr id="65" name="Shape 63"/>
          <p:cNvSpPr/>
          <p:nvPr/>
        </p:nvSpPr>
        <p:spPr>
          <a:xfrm>
            <a:off x="548640" y="4370832"/>
            <a:ext cx="11064240" cy="5486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Text 64"/>
          <p:cNvSpPr/>
          <p:nvPr/>
        </p:nvSpPr>
        <p:spPr>
          <a:xfrm>
            <a:off x="777240" y="43708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1325880" y="4370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微調帶來的增益，在兩種範式上是否一致？若不一致，差異來自資料、架構，還是取樣設定？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 67"/>
          <p:cNvSpPr/>
          <p:nvPr/>
        </p:nvSpPr>
        <p:spPr>
          <a:xfrm>
            <a:off x="777240" y="4937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132588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擴散的吞吐優勢在繁中任務上是否成立？代價是準確率、記憶體，還是兩者皆有？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48640" y="5504688"/>
            <a:ext cx="11064240" cy="5486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Text 70"/>
          <p:cNvSpPr/>
          <p:nvPr/>
        </p:nvSpPr>
        <p:spPr>
          <a:xfrm>
            <a:off x="777240" y="55046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325880" y="55046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峰值記憶體與 Playbook 公式的推算差多少？差在哪一項（權重／梯度／優化器狀態／激活值）？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949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延伸研究想法</a:t>
            </a:r>
            <a:endParaRPr lang="en-US" sz="3000" dirty="0"/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FBEBCE4B-E0B1-9247-5063-04B269EC92BA}"/>
              </a:ext>
            </a:extLst>
          </p:cNvPr>
          <p:cNvSpPr/>
          <p:nvPr/>
        </p:nvSpPr>
        <p:spPr>
          <a:xfrm>
            <a:off x="548640" y="1517904"/>
            <a:ext cx="1106424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3">
            <a:extLst>
              <a:ext uri="{FF2B5EF4-FFF2-40B4-BE49-F238E27FC236}">
                <a16:creationId xmlns:a16="http://schemas.microsoft.com/office/drawing/2014/main" id="{8A2EBADF-0357-18E6-67BA-52115DC7530A}"/>
              </a:ext>
            </a:extLst>
          </p:cNvPr>
          <p:cNvSpPr/>
          <p:nvPr/>
        </p:nvSpPr>
        <p:spPr>
          <a:xfrm>
            <a:off x="777240" y="17190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BDE641BE-DFB0-7A3B-8B14-513918AB2C6A}"/>
              </a:ext>
            </a:extLst>
          </p:cNvPr>
          <p:cNvSpPr/>
          <p:nvPr/>
        </p:nvSpPr>
        <p:spPr>
          <a:xfrm>
            <a:off x="77724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73E86E61-0D4A-054E-ADDB-10466F49F233}"/>
              </a:ext>
            </a:extLst>
          </p:cNvPr>
          <p:cNvSpPr/>
          <p:nvPr/>
        </p:nvSpPr>
        <p:spPr>
          <a:xfrm>
            <a:off x="1325880" y="170078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繁中任務的步數—品質關係與模板敏感度</a:t>
            </a:r>
            <a:endParaRPr lang="en-US" sz="1550" dirty="0"/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BD95773C-A655-886E-BA72-FA8733DBFCF2}"/>
              </a:ext>
            </a:extLst>
          </p:cNvPr>
          <p:cNvSpPr/>
          <p:nvPr/>
        </p:nvSpPr>
        <p:spPr>
          <a:xfrm>
            <a:off x="1325880" y="215798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文獻：Evaluation Illusion in dLLMs（arXiv:2606.29228）指出步數增加在同一模板內邊際遞減、跨模板差異可達 10 </a:t>
            </a:r>
            <a:r>
              <a:rPr lang="en-US" sz="1150" dirty="0" err="1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個百分點以上</a:t>
            </a:r>
            <a:r>
              <a:rPr lang="en-US" sz="115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       SmartCrop（arXiv:2603.06123）以預測輸出長度裁切畫布來減少步數。</a:t>
            </a:r>
            <a:endParaRPr lang="en-US" sz="1150" dirty="0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AA274ED1-C381-C1C1-30D1-21D68698AFEB}"/>
              </a:ext>
            </a:extLst>
          </p:cNvPr>
          <p:cNvSpPr/>
          <p:nvPr/>
        </p:nvSpPr>
        <p:spPr>
          <a:xfrm>
            <a:off x="1325880" y="26151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缺口：SmartCrop 僅在 LLaDA 與四項英文 benchmark 上驗證，繁中尚無對應結果。</a:t>
            </a:r>
            <a:endParaRPr lang="en-US" sz="1150" dirty="0"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9872CB92-5345-BA3D-985A-0BB306B8BBC9}"/>
              </a:ext>
            </a:extLst>
          </p:cNvPr>
          <p:cNvSpPr/>
          <p:nvPr/>
        </p:nvSpPr>
        <p:spPr>
          <a:xfrm>
            <a:off x="548640" y="3108960"/>
            <a:ext cx="1106424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10">
            <a:extLst>
              <a:ext uri="{FF2B5EF4-FFF2-40B4-BE49-F238E27FC236}">
                <a16:creationId xmlns:a16="http://schemas.microsoft.com/office/drawing/2014/main" id="{37421629-1DE0-23DE-1CF8-C745B13D1971}"/>
              </a:ext>
            </a:extLst>
          </p:cNvPr>
          <p:cNvSpPr/>
          <p:nvPr/>
        </p:nvSpPr>
        <p:spPr>
          <a:xfrm>
            <a:off x="777240" y="33101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CEEE031B-C3A6-0C19-42B3-858431DC5235}"/>
              </a:ext>
            </a:extLst>
          </p:cNvPr>
          <p:cNvSpPr/>
          <p:nvPr/>
        </p:nvSpPr>
        <p:spPr>
          <a:xfrm>
            <a:off x="77724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25BB4476-B43A-800A-838B-5BC78685C28C}"/>
              </a:ext>
            </a:extLst>
          </p:cNvPr>
          <p:cNvSpPr/>
          <p:nvPr/>
        </p:nvSpPr>
        <p:spPr>
          <a:xfrm>
            <a:off x="1325880" y="329184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擴散模型對「在地用語」的可控性</a:t>
            </a:r>
            <a:endParaRPr lang="en-US" sz="1550" dirty="0"/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19B9A5B0-F57C-BBD9-9229-027DB2FBDBA0}"/>
              </a:ext>
            </a:extLst>
          </p:cNvPr>
          <p:cNvSpPr/>
          <p:nvPr/>
        </p:nvSpPr>
        <p:spPr>
          <a:xfrm>
            <a:off x="1325880" y="374904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文獻：Diffusion-LM（arXiv:2205.14217, NeurIPS 2022）示範同時控制六項細粒度屬性；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       LAVE（arXiv:2602.00612）提出擴散 LLM 專用的受約束解碼方法。</a:t>
            </a:r>
            <a:endParaRPr lang="en-US" sz="1150" dirty="0"/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B4523337-4E12-08FD-C259-37613D3DC115}"/>
              </a:ext>
            </a:extLst>
          </p:cNvPr>
          <p:cNvSpPr/>
          <p:nvPr/>
        </p:nvSpPr>
        <p:spPr>
          <a:xfrm>
            <a:off x="1325880" y="4206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缺口：以「語言變體／在地用語」為約束目標，目前尚無研究</a:t>
            </a:r>
            <a:endParaRPr lang="en-US" sz="1150" dirty="0"/>
          </a:p>
        </p:txBody>
      </p:sp>
      <p:sp>
        <p:nvSpPr>
          <p:cNvPr id="61" name="Shape 16">
            <a:extLst>
              <a:ext uri="{FF2B5EF4-FFF2-40B4-BE49-F238E27FC236}">
                <a16:creationId xmlns:a16="http://schemas.microsoft.com/office/drawing/2014/main" id="{B54E09F2-DF37-55F0-2982-8AF1CFFF46E0}"/>
              </a:ext>
            </a:extLst>
          </p:cNvPr>
          <p:cNvSpPr/>
          <p:nvPr/>
        </p:nvSpPr>
        <p:spPr>
          <a:xfrm>
            <a:off x="548640" y="4700016"/>
            <a:ext cx="1106424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Shape 17">
            <a:extLst>
              <a:ext uri="{FF2B5EF4-FFF2-40B4-BE49-F238E27FC236}">
                <a16:creationId xmlns:a16="http://schemas.microsoft.com/office/drawing/2014/main" id="{D554BEC2-09EB-7D93-F91E-088A4BF3B132}"/>
              </a:ext>
            </a:extLst>
          </p:cNvPr>
          <p:cNvSpPr/>
          <p:nvPr/>
        </p:nvSpPr>
        <p:spPr>
          <a:xfrm>
            <a:off x="777240" y="490118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18">
            <a:extLst>
              <a:ext uri="{FF2B5EF4-FFF2-40B4-BE49-F238E27FC236}">
                <a16:creationId xmlns:a16="http://schemas.microsoft.com/office/drawing/2014/main" id="{7EFEE6FD-2EEB-61A2-F781-7A3B50C8BFBB}"/>
              </a:ext>
            </a:extLst>
          </p:cNvPr>
          <p:cNvSpPr/>
          <p:nvPr/>
        </p:nvSpPr>
        <p:spPr>
          <a:xfrm>
            <a:off x="77724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300" dirty="0"/>
          </a:p>
        </p:txBody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C61FEBD1-BB0C-9B22-22AF-36E197A256FF}"/>
              </a:ext>
            </a:extLst>
          </p:cNvPr>
          <p:cNvSpPr/>
          <p:nvPr/>
        </p:nvSpPr>
        <p:spPr>
          <a:xfrm>
            <a:off x="1325880" y="488289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台灣情境下的自迴歸</a:t>
            </a:r>
            <a:r>
              <a:rPr lang="en-US" sz="15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(AR)／</a:t>
            </a:r>
            <a:r>
              <a:rPr lang="en-US" sz="155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擴散</a:t>
            </a:r>
            <a:r>
              <a:rPr lang="en-US" sz="15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(DLM) </a:t>
            </a:r>
            <a:r>
              <a:rPr lang="en-US" sz="155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系統性對照</a:t>
            </a:r>
            <a:endParaRPr lang="en-US" sz="1550" dirty="0"/>
          </a:p>
        </p:txBody>
      </p:sp>
      <p:sp>
        <p:nvSpPr>
          <p:cNvPr id="66" name="Text 21">
            <a:extLst>
              <a:ext uri="{FF2B5EF4-FFF2-40B4-BE49-F238E27FC236}">
                <a16:creationId xmlns:a16="http://schemas.microsoft.com/office/drawing/2014/main" id="{E5D54858-F4A2-2FD2-C1D0-09082FC7963D}"/>
              </a:ext>
            </a:extLst>
          </p:cNvPr>
          <p:cNvSpPr/>
          <p:nvPr/>
        </p:nvSpPr>
        <p:spPr>
          <a:xfrm>
            <a:off x="1325880" y="5340096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文獻：LLaDA（arXiv:2502.09992）在含中文的 15 項 benchmark 上與同規模自迴歸模型對照，並於數學與中文任務展現優勢。</a:t>
            </a:r>
            <a:endParaRPr lang="en-US" sz="1150" dirty="0"/>
          </a:p>
        </p:txBody>
      </p:sp>
      <p:sp>
        <p:nvSpPr>
          <p:cNvPr id="67" name="Text 22">
            <a:extLst>
              <a:ext uri="{FF2B5EF4-FFF2-40B4-BE49-F238E27FC236}">
                <a16:creationId xmlns:a16="http://schemas.microsoft.com/office/drawing/2014/main" id="{358DA628-A53D-B331-00D8-843F38E66765}"/>
              </a:ext>
            </a:extLst>
          </p:cNvPr>
          <p:cNvSpPr/>
          <p:nvPr/>
        </p:nvSpPr>
        <p:spPr>
          <a:xfrm>
            <a:off x="1325880" y="57972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缺口：既有對照以簡中／中國 benchmark 為主，台灣情境（TMMLU+）尚無公開對照。屬補空白而非方法創新。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126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進階研究階段的資料集規劃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擴充既有公開資料集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6424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指令資料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938528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lianghsun/tw-instruct-500k、yentinglin/TaiwanChat —— 擴大任務覆蓋與領域廣度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548640" y="2523744"/>
            <a:ext cx="11064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77240" y="252374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推理資料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523744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twinkle-ai/tw-reasoning-instruct-50k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106424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2" name="Text 10"/>
          <p:cNvSpPr/>
          <p:nvPr/>
        </p:nvSpPr>
        <p:spPr>
          <a:xfrm>
            <a:off x="777240" y="3108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評測資料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310896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ikala/tmmluplus 台灣知識題；Twinkle Eval 另內建 23 個評測資料集、涵蓋 9 大類型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 err="1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需自行建置的新資料集（依研究方向</a:t>
            </a:r>
            <a:r>
              <a:rPr lang="en-US" sz="16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24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749808" y="4370832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49808" y="437083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 B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在地用語對照集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34840" y="4224528"/>
            <a:ext cx="6995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同義但用語不同的台／中詞彙與句對，作為可控性研究的訓練與評測依據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548640" y="4864608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24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749808" y="5010912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49808" y="501091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 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1640" y="486460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步數—品質標註集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34840" y="4864608"/>
            <a:ext cx="6995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同一批繁中提示在不同去噪步數下的輸出，配上品質標註，用以描繪取捨曲線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548640" y="5504688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24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749808" y="5650992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6509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 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91640" y="550468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繁中填空／改寫評測集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24330" y="5504688"/>
            <a:ext cx="6995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遮蔽片段加參考答案，評測擴散模型天生的雙向填空能力</a:t>
            </a:r>
            <a:endParaRPr lang="en-US" sz="12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6D6F1-2353-AEA1-6E3F-FFD6457D7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506645-9465-B6BE-932D-0B24AFDE6235}"/>
              </a:ext>
            </a:extLst>
          </p:cNvPr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參考資料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93C5AB-0E2E-D236-24A7-03AF001F5F0A}"/>
              </a:ext>
            </a:extLst>
          </p:cNvPr>
          <p:cNvSpPr/>
          <p:nvPr/>
        </p:nvSpPr>
        <p:spPr>
          <a:xfrm>
            <a:off x="548640" y="1218569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研究文獻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A60A49-A185-E299-B634-DF394574DCD4}"/>
              </a:ext>
            </a:extLst>
          </p:cNvPr>
          <p:cNvSpPr/>
          <p:nvPr/>
        </p:nvSpPr>
        <p:spPr>
          <a:xfrm>
            <a:off x="548640" y="1602617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LLaDA: Large Language Diffusion Models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arxiv.org/abs/2502.09992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F591B78-5D88-F10C-A4D3-4E16F0381B35}"/>
              </a:ext>
            </a:extLst>
          </p:cNvPr>
          <p:cNvSpPr/>
          <p:nvPr/>
        </p:nvSpPr>
        <p:spPr>
          <a:xfrm>
            <a:off x="548640" y="1931801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LLaDA-MoE: A Sparse MoE Diffusion LM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arxiv.org/abs/2509.24389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AF2DD28-7B58-BCB6-63C4-062C86FC2F77}"/>
              </a:ext>
            </a:extLst>
          </p:cNvPr>
          <p:cNvSpPr/>
          <p:nvPr/>
        </p:nvSpPr>
        <p:spPr>
          <a:xfrm>
            <a:off x="548640" y="2260985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Diffusion-LM Improves Controllable Text Gen.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arxiv.org/abs/2205.14217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05135CD-3B09-7CD4-9ED1-038680D8EFA9}"/>
              </a:ext>
            </a:extLst>
          </p:cNvPr>
          <p:cNvSpPr/>
          <p:nvPr/>
        </p:nvSpPr>
        <p:spPr>
          <a:xfrm>
            <a:off x="548640" y="2590169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Lookahead-then-Verify (LAVE)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arxiv.org/abs/2602.00612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95CFCCF-B687-D7EF-8A0D-F9EA0E4DB259}"/>
              </a:ext>
            </a:extLst>
          </p:cNvPr>
          <p:cNvSpPr/>
          <p:nvPr/>
        </p:nvSpPr>
        <p:spPr>
          <a:xfrm>
            <a:off x="548640" y="2919353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Understanding Evaluation Illusion in dLLMs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arxiv.org/abs/2606.29228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C041AEB-FD16-B4CF-6630-48369916F5BF}"/>
              </a:ext>
            </a:extLst>
          </p:cNvPr>
          <p:cNvSpPr/>
          <p:nvPr/>
        </p:nvSpPr>
        <p:spPr>
          <a:xfrm>
            <a:off x="548640" y="3248537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DLMs Are Natively Length-Aware (SmartCrop)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arxiv.org/abs/2603.06123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1E09C3F-A143-A9E1-D9FA-A539F9A48E26}"/>
              </a:ext>
            </a:extLst>
          </p:cNvPr>
          <p:cNvSpPr/>
          <p:nvPr/>
        </p:nvSpPr>
        <p:spPr>
          <a:xfrm>
            <a:off x="6096000" y="1218569"/>
            <a:ext cx="551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模型與技術文件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D39247A-17FD-C5DC-CB44-A3828E00E813}"/>
              </a:ext>
            </a:extLst>
          </p:cNvPr>
          <p:cNvSpPr/>
          <p:nvPr/>
        </p:nvSpPr>
        <p:spPr>
          <a:xfrm>
            <a:off x="6096000" y="1602617"/>
            <a:ext cx="551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DiffusionGemma 模型總覽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ai.google.dev/gemma/docs/diffusiongemma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82754FA-EFE7-EC71-A66E-E83B70B54A7B}"/>
              </a:ext>
            </a:extLst>
          </p:cNvPr>
          <p:cNvSpPr/>
          <p:nvPr/>
        </p:nvSpPr>
        <p:spPr>
          <a:xfrm>
            <a:off x="6096000" y="1931801"/>
            <a:ext cx="551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DiffusionGemma 微調工具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github.com/google/hackable_diffusion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2F9B685-C60A-7E30-4A58-ED45136A89EF}"/>
              </a:ext>
            </a:extLst>
          </p:cNvPr>
          <p:cNvSpPr/>
          <p:nvPr/>
        </p:nvSpPr>
        <p:spPr>
          <a:xfrm>
            <a:off x="6096000" y="2260985"/>
            <a:ext cx="551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DLM 概論（Hugging Face Blog）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huggingface.co/blog/ProCreations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A0663EC-3F37-2B56-74F2-5EC4C33FB096}"/>
              </a:ext>
            </a:extLst>
          </p:cNvPr>
          <p:cNvSpPr/>
          <p:nvPr/>
        </p:nvSpPr>
        <p:spPr>
          <a:xfrm>
            <a:off x="6096000" y="2590169"/>
            <a:ext cx="551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Ultra-Scale Playbook 繁中版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github.com/ai-twinkle/ultrascale-playbook-zh-tw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567631F-5959-7E82-24D1-17C38DEF75B1}"/>
              </a:ext>
            </a:extLst>
          </p:cNvPr>
          <p:cNvSpPr/>
          <p:nvPr/>
        </p:nvSpPr>
        <p:spPr>
          <a:xfrm>
            <a:off x="548640" y="3760601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CAFB4E5-6A8A-174A-C8DA-6C59A0F04301}"/>
              </a:ext>
            </a:extLst>
          </p:cNvPr>
          <p:cNvSpPr/>
          <p:nvPr/>
        </p:nvSpPr>
        <p:spPr>
          <a:xfrm>
            <a:off x="548640" y="4144649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twinkle-ai/tw-reasoning-instruct-50k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萬筆繁中推理指令 · MIT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15C01C2-EFCA-A1D5-D3A7-306972403061}"/>
              </a:ext>
            </a:extLst>
          </p:cNvPr>
          <p:cNvSpPr/>
          <p:nvPr/>
        </p:nvSpPr>
        <p:spPr>
          <a:xfrm>
            <a:off x="548640" y="4473833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lianghsun/tw-instruct-500k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台灣常見任務指令集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837F051-85B9-ECC3-6ECE-8E291FE979C2}"/>
              </a:ext>
            </a:extLst>
          </p:cNvPr>
          <p:cNvSpPr/>
          <p:nvPr/>
        </p:nvSpPr>
        <p:spPr>
          <a:xfrm>
            <a:off x="548640" y="4803017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yentinglin/TaiwanChat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Taiwan-LLaMa 對話資料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AEA26C5-E78A-E515-47D7-5002FCDE100C}"/>
              </a:ext>
            </a:extLst>
          </p:cNvPr>
          <p:cNvSpPr/>
          <p:nvPr/>
        </p:nvSpPr>
        <p:spPr>
          <a:xfrm>
            <a:off x="548640" y="5132201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ikala/tmmluplus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繁中／台灣情境知識評測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9EA3930-4035-02A7-11A7-818E475EA95A}"/>
              </a:ext>
            </a:extLst>
          </p:cNvPr>
          <p:cNvSpPr/>
          <p:nvPr/>
        </p:nvSpPr>
        <p:spPr>
          <a:xfrm>
            <a:off x="6096000" y="3760601"/>
            <a:ext cx="551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</a:t>
            </a:r>
            <a:endParaRPr lang="en-US" sz="15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4141040-A723-F7AB-FEA9-98901C943261}"/>
              </a:ext>
            </a:extLst>
          </p:cNvPr>
          <p:cNvSpPr/>
          <p:nvPr/>
        </p:nvSpPr>
        <p:spPr>
          <a:xfrm>
            <a:off x="6096000" y="4144649"/>
            <a:ext cx="551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Twinkle Eval　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github.com/ai-twinkle/Eval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EB042F7-D9E1-27BB-B2B3-ABDF4FB6E97F}"/>
              </a:ext>
            </a:extLst>
          </p:cNvPr>
          <p:cNvSpPr/>
          <p:nvPr/>
        </p:nvSpPr>
        <p:spPr>
          <a:xfrm>
            <a:off x="6096000" y="4455545"/>
            <a:ext cx="551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- </a:t>
            </a:r>
            <a:r>
              <a:rPr lang="en-US" sz="1100" dirty="0" err="1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內建</a:t>
            </a:r>
            <a:r>
              <a:rPr lang="en-US" sz="1100" dirty="0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23 個評測資料集、涵蓋 9 </a:t>
            </a:r>
            <a:r>
              <a:rPr lang="en-US" sz="1100" dirty="0" err="1">
                <a:solidFill>
                  <a:srgbClr val="4A55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大評測類型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30287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1100</Words>
  <Application>Microsoft Macintosh PowerPoint</Application>
  <PresentationFormat>寬螢幕</PresentationFormat>
  <Paragraphs>236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5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曹楷萱</cp:lastModifiedBy>
  <cp:revision>5</cp:revision>
  <dcterms:created xsi:type="dcterms:W3CDTF">2026-07-18T07:54:16Z</dcterms:created>
  <dcterms:modified xsi:type="dcterms:W3CDTF">2026-07-24T07:27:53Z</dcterms:modified>
</cp:coreProperties>
</file>